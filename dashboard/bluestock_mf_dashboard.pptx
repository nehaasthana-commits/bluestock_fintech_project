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3440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93C5FD"/>
                </a:solidFill>
              </a:rPr>
              <a:t>BLUESTOCK FINTECH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MUTUAL FUND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Capstone Project I  |  Group: asthananeha2015  /  bsoham2704  /  Bubai 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108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Day 6 — Dashboard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Page 1: Industry Overview   |   Page 2: Fund Performance
Page 3: Investor Analytics   |   Page 4: SIP &amp; Market Trends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</a:rPr>
              <a:t>Powered by Python  |  Data: AMFI / MFAPI / NSE / BSE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94360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Bluestock Fintech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1645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93C5FD"/>
                </a:solidFill>
              </a:rPr>
              <a:t>BLUESTOCK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9072" y="45720"/>
            <a:ext cx="274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</a:rP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8528" y="54864"/>
            <a:ext cx="6400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Industry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4630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Mutual Fund Analytics  |  Bluestock Fintech Capstone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3542" y="621792"/>
            <a:ext cx="276148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1830" y="640080"/>
            <a:ext cx="2724912" cy="23774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" y="649224"/>
            <a:ext cx="26883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TOTAL INDUSTRY AUM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118" y="905256"/>
            <a:ext cx="268833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</a:rPr>
              <a:t>₹81L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" y="1399032"/>
            <a:ext cx="2688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64748B"/>
                </a:solidFill>
              </a:rPr>
              <a:t>Mar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4583" y="621792"/>
            <a:ext cx="276148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376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2871" y="640080"/>
            <a:ext cx="2724912" cy="237744"/>
          </a:xfrm>
          <a:prstGeom prst="rect">
            <a:avLst/>
          </a:prstGeom>
          <a:solidFill>
            <a:srgbClr val="376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1159" y="649224"/>
            <a:ext cx="26883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ANNUAL SIP INFLOWS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1159" y="905256"/>
            <a:ext cx="268833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</a:rPr>
              <a:t>₹31K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1159" y="1399032"/>
            <a:ext cx="2688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64748B"/>
                </a:solidFill>
              </a:rPr>
              <a:t>FY2025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5624" y="621792"/>
            <a:ext cx="276148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3912" y="640080"/>
            <a:ext cx="2724912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649224"/>
            <a:ext cx="26883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TOTAL FOLIOS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905256"/>
            <a:ext cx="268833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</a:rPr>
              <a:t>26.12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399032"/>
            <a:ext cx="2688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64748B"/>
                </a:solidFill>
              </a:rPr>
              <a:t>Q4 FY2026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76664" y="621792"/>
            <a:ext cx="276148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94952" y="640080"/>
            <a:ext cx="2724912" cy="23774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13240" y="649224"/>
            <a:ext cx="26883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TOTAL SCHEMES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3240" y="905256"/>
            <a:ext cx="268833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</a:rPr>
              <a:t>1,908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3240" y="1399032"/>
            <a:ext cx="2688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64748B"/>
                </a:solidFill>
              </a:rPr>
              <a:t>Active</a:t>
            </a:r>
          </a:p>
        </p:txBody>
      </p:sp>
      <p:pic>
        <p:nvPicPr>
          <p:cNvPr id="27" name="Picture 26" descr="s1_aum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901952"/>
            <a:ext cx="8092440" cy="4754880"/>
          </a:xfrm>
          <a:prstGeom prst="rect">
            <a:avLst/>
          </a:prstGeom>
        </p:spPr>
      </p:pic>
      <p:pic>
        <p:nvPicPr>
          <p:cNvPr id="28" name="Picture 27" descr="s1_aum_am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901952"/>
            <a:ext cx="3703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1645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93C5FD"/>
                </a:solidFill>
              </a:rPr>
              <a:t>BLUESTOCK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9072" y="45720"/>
            <a:ext cx="274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</a:rP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8528" y="54864"/>
            <a:ext cx="6400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Fund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4630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Mutual Fund Analytics  |  Bluestock Fintech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6692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</a:rPr>
              <a:t>Slicers: Fund House  |  Category  |  Plan</a:t>
            </a:r>
          </a:p>
        </p:txBody>
      </p:sp>
      <p:pic>
        <p:nvPicPr>
          <p:cNvPr id="8" name="Picture 7" descr="s2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94360"/>
            <a:ext cx="5532120" cy="6080760"/>
          </a:xfrm>
          <a:prstGeom prst="rect">
            <a:avLst/>
          </a:prstGeom>
        </p:spPr>
      </p:pic>
      <p:pic>
        <p:nvPicPr>
          <p:cNvPr id="9" name="Picture 8" descr="s2_score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594360"/>
            <a:ext cx="6172200" cy="3474720"/>
          </a:xfrm>
          <a:prstGeom prst="rect">
            <a:avLst/>
          </a:prstGeom>
        </p:spPr>
      </p:pic>
      <p:pic>
        <p:nvPicPr>
          <p:cNvPr id="10" name="Picture 9" descr="s2_na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4160520"/>
            <a:ext cx="61722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1645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93C5FD"/>
                </a:solidFill>
              </a:rPr>
              <a:t>BLUESTOCK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9072" y="45720"/>
            <a:ext cx="274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</a:rP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8528" y="54864"/>
            <a:ext cx="6400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Investor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4630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Mutual Fund Analytics  |  Bluestock Fintech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56692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</a:rPr>
              <a:t>Slicers: State  |  Age Group  |  City Tier</a:t>
            </a:r>
          </a:p>
        </p:txBody>
      </p:sp>
      <p:pic>
        <p:nvPicPr>
          <p:cNvPr id="8" name="Picture 7" descr="s3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94360"/>
            <a:ext cx="6583680" cy="3291840"/>
          </a:xfrm>
          <a:prstGeom prst="rect">
            <a:avLst/>
          </a:prstGeom>
        </p:spPr>
      </p:pic>
      <p:pic>
        <p:nvPicPr>
          <p:cNvPr id="9" name="Picture 8" descr="s3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94360"/>
            <a:ext cx="5166360" cy="3291840"/>
          </a:xfrm>
          <a:prstGeom prst="rect">
            <a:avLst/>
          </a:prstGeom>
        </p:spPr>
      </p:pic>
      <p:pic>
        <p:nvPicPr>
          <p:cNvPr id="10" name="Picture 9" descr="s3_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3977639"/>
            <a:ext cx="5394960" cy="2743200"/>
          </a:xfrm>
          <a:prstGeom prst="rect">
            <a:avLst/>
          </a:prstGeom>
        </p:spPr>
      </p:pic>
      <p:pic>
        <p:nvPicPr>
          <p:cNvPr id="11" name="Picture 10" descr="s3_mv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3977639"/>
            <a:ext cx="63550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1645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93C5FD"/>
                </a:solidFill>
              </a:rPr>
              <a:t>BLUESTOCK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9072" y="45720"/>
            <a:ext cx="274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</a:rP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8528" y="54864"/>
            <a:ext cx="6400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SIP &amp; Market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4630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Mutual Fund Analytics  |  Bluestock Fintech Capstone</a:t>
            </a:r>
          </a:p>
        </p:txBody>
      </p:sp>
      <p:pic>
        <p:nvPicPr>
          <p:cNvPr id="7" name="Picture 6" descr="s4_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94360"/>
            <a:ext cx="11841480" cy="3200400"/>
          </a:xfrm>
          <a:prstGeom prst="rect">
            <a:avLst/>
          </a:prstGeom>
        </p:spPr>
      </p:pic>
      <p:pic>
        <p:nvPicPr>
          <p:cNvPr id="8" name="Picture 7" descr="s4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3886200"/>
            <a:ext cx="7040880" cy="2834640"/>
          </a:xfrm>
          <a:prstGeom prst="rect">
            <a:avLst/>
          </a:prstGeom>
        </p:spPr>
      </p:pic>
      <p:pic>
        <p:nvPicPr>
          <p:cNvPr id="9" name="Picture 8" descr="s4_top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3886200"/>
            <a:ext cx="4617720" cy="2834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